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2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88" y="5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5091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D2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463040"/>
            <a:ext cx="4389120" cy="4389120"/>
          </a:xfrm>
          <a:prstGeom prst="ellipse">
            <a:avLst/>
          </a:prstGeom>
          <a:solidFill>
            <a:srgbClr val="B85042">
              <a:alpha val="6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863840" y="2926080"/>
            <a:ext cx="2926080" cy="2926080"/>
          </a:xfrm>
          <a:prstGeom prst="ellipse">
            <a:avLst/>
          </a:prstGeom>
          <a:solidFill>
            <a:srgbClr val="C97B84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164592" cy="292608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· 5분 발표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TheDay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200" b="1" dirty="0">
                <a:solidFill>
                  <a:srgbClr val="F5EDE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본식 날짜 하나로 결혼 준비 일정이</a:t>
            </a:r>
            <a:endParaRPr lang="en-US" sz="22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2200" b="1" dirty="0">
                <a:solidFill>
                  <a:srgbClr val="F5EDE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자동으로 펼쳐지는 캘린더 앱</a:t>
            </a:r>
            <a:endParaRPr lang="en-US" sz="22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4434840"/>
            <a:ext cx="1097280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48640" y="4526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EDE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결혼 준비 자동화 · Flutter · 2,800 LOC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4678" y="434340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97B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r>
              <a:rPr lang="en-US" sz="1200" b="1" kern="0" spc="400" dirty="0">
                <a:solidFill>
                  <a:srgbClr val="8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1200" b="1" kern="0" spc="400" dirty="0">
                <a:solidFill>
                  <a:srgbClr val="8C7A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WHY · 왜 만들었나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2B1A2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결혼 준비는 </a:t>
            </a:r>
            <a:r>
              <a:rPr lang="en-US" sz="2600" b="1" dirty="0">
                <a:solidFill>
                  <a:srgbClr val="6D2E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30~40개의 일정</a:t>
            </a:r>
            <a:r>
              <a:rPr lang="en-US" sz="2600" b="1" dirty="0">
                <a:solidFill>
                  <a:srgbClr val="2B1A2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  <a:endParaRPr lang="en-US" sz="2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2B1A2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각자 </a:t>
            </a:r>
            <a:r>
              <a:rPr lang="en-US" sz="2600" b="1" dirty="0">
                <a:solidFill>
                  <a:srgbClr val="B8504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다른 D-day</a:t>
            </a:r>
            <a:r>
              <a:rPr lang="en-US" sz="2600" b="1" dirty="0">
                <a:solidFill>
                  <a:srgbClr val="2B1A2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 흩어져 있다.</a:t>
            </a:r>
            <a:endParaRPr lang="en-US" sz="2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42900" y="2103120"/>
            <a:ext cx="2697480" cy="2377440"/>
          </a:xfrm>
          <a:prstGeom prst="rect">
            <a:avLst/>
          </a:prstGeom>
          <a:solidFill>
            <a:srgbClr val="F5EDE4"/>
          </a:solidFill>
          <a:ln/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42900" y="2103120"/>
            <a:ext cx="73152" cy="237744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62940" y="24231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25603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62940" y="32004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D2E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30~40개 일정</a:t>
            </a:r>
            <a:endParaRPr lang="en-US" sz="1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Text 6"/>
          <p:cNvSpPr/>
          <p:nvPr/>
        </p:nvSpPr>
        <p:spPr>
          <a:xfrm>
            <a:off x="630934" y="3631354"/>
            <a:ext cx="22814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1A2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본식 기준 며칠 전인지가 항목마다 전부 다름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223260" y="2103120"/>
            <a:ext cx="2697480" cy="2377440"/>
          </a:xfrm>
          <a:prstGeom prst="rect">
            <a:avLst/>
          </a:prstGeom>
          <a:solidFill>
            <a:srgbClr val="F5EDE4"/>
          </a:solidFill>
          <a:ln/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223260" y="2103120"/>
            <a:ext cx="73152" cy="237744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543300" y="24231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0460" y="256032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43300" y="32004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D2E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흩어진 D-day</a:t>
            </a:r>
            <a:endParaRPr lang="en-US" sz="1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3488434" y="3631354"/>
            <a:ext cx="23682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1A2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예식장 300일 전, 스튜디오 90일 전,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1A2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메이크업 시연 30일 전 …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6103620" y="2103120"/>
            <a:ext cx="2697480" cy="2377440"/>
          </a:xfrm>
          <a:prstGeom prst="rect">
            <a:avLst/>
          </a:prstGeom>
          <a:solidFill>
            <a:srgbClr val="F5EDE4"/>
          </a:solidFill>
          <a:ln/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6103620" y="2103120"/>
            <a:ext cx="73152" cy="237744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6423660" y="24231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0820" y="256032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23660" y="32004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D2E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기존 도구의 한계</a:t>
            </a:r>
            <a:endParaRPr lang="en-US" sz="1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6359652" y="3631354"/>
            <a:ext cx="2304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1A2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노션 · 구글 캘린더는 결국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1A2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수동으로 옮겨 적어야 함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54864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B8504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→ 한 번의 입력으로 자동화하자.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97B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r>
              <a:rPr lang="en-US" sz="1200" b="1" kern="0" spc="400" dirty="0">
                <a:solidFill>
                  <a:srgbClr val="8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CONCEPT · 한 장으로 보는 흐름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1A2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사용자는 </a:t>
            </a:r>
            <a:r>
              <a:rPr lang="en-US" sz="3000" b="1" dirty="0">
                <a:solidFill>
                  <a:srgbClr val="B8504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두 번</a:t>
            </a:r>
            <a:r>
              <a:rPr lang="en-US" sz="3000" b="1" dirty="0">
                <a:solidFill>
                  <a:srgbClr val="2B1A2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시스템은 </a:t>
            </a:r>
            <a:r>
              <a:rPr lang="en-US" sz="3000" b="1" dirty="0">
                <a:solidFill>
                  <a:srgbClr val="6D2E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나머지 전부</a:t>
            </a:r>
            <a:endParaRPr lang="en-US" sz="3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828800" cy="1554480"/>
          </a:xfrm>
          <a:prstGeom prst="rect">
            <a:avLst/>
          </a:prstGeom>
          <a:solidFill>
            <a:srgbClr val="6D2E46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685800" y="19202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5EDE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19659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4688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본식 날짜 입력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Text 5"/>
          <p:cNvSpPr/>
          <p:nvPr/>
        </p:nvSpPr>
        <p:spPr>
          <a:xfrm>
            <a:off x="640080" y="2971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EDE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1회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5728" y="2496312"/>
            <a:ext cx="201168" cy="20116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606040" y="1828800"/>
            <a:ext cx="1828800" cy="1554480"/>
          </a:xfrm>
          <a:prstGeom prst="rect">
            <a:avLst/>
          </a:prstGeom>
          <a:solidFill>
            <a:srgbClr val="F5EDE4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Text 7"/>
          <p:cNvSpPr/>
          <p:nvPr/>
        </p:nvSpPr>
        <p:spPr>
          <a:xfrm>
            <a:off x="2743200" y="19202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97B8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4760" y="196596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720340" y="24688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6D2E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40개 기본 일정 템플릿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Text 9"/>
          <p:cNvSpPr/>
          <p:nvPr/>
        </p:nvSpPr>
        <p:spPr>
          <a:xfrm>
            <a:off x="2697480" y="2971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7A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default_tasks.json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3128" y="2496312"/>
            <a:ext cx="201168" cy="20116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4663440" y="1828800"/>
            <a:ext cx="1828800" cy="1554480"/>
          </a:xfrm>
          <a:prstGeom prst="rect">
            <a:avLst/>
          </a:prstGeom>
          <a:solidFill>
            <a:srgbClr val="F5EDE4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4800600" y="19202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97B8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160" y="1965960"/>
            <a:ext cx="411480" cy="4114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796028" y="2468880"/>
            <a:ext cx="1563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6D2E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D-day 기준 자동 배치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Text 13"/>
          <p:cNvSpPr/>
          <p:nvPr/>
        </p:nvSpPr>
        <p:spPr>
          <a:xfrm>
            <a:off x="4754880" y="2971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7A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recommendedDaysBefore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2496312"/>
            <a:ext cx="201168" cy="201168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6720840" y="1828800"/>
            <a:ext cx="1828800" cy="1554480"/>
          </a:xfrm>
          <a:prstGeom prst="rect">
            <a:avLst/>
          </a:prstGeom>
          <a:solidFill>
            <a:srgbClr val="B85042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6858000" y="19202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5EDE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9560" y="1965960"/>
            <a:ext cx="411480" cy="41148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819900" y="2468880"/>
            <a:ext cx="163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캘린더 + 알림 + 진행률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6" name="Shape 17"/>
          <p:cNvSpPr/>
          <p:nvPr/>
        </p:nvSpPr>
        <p:spPr>
          <a:xfrm>
            <a:off x="548640" y="3749040"/>
            <a:ext cx="4023360" cy="1051560"/>
          </a:xfrm>
          <a:prstGeom prst="rect">
            <a:avLst/>
          </a:prstGeom>
          <a:solidFill>
            <a:srgbClr val="F5EDE4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Shape 18"/>
          <p:cNvSpPr/>
          <p:nvPr/>
        </p:nvSpPr>
        <p:spPr>
          <a:xfrm>
            <a:off x="548640" y="3749040"/>
            <a:ext cx="73152" cy="105156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8" name="Text 19"/>
          <p:cNvSpPr/>
          <p:nvPr/>
        </p:nvSpPr>
        <p:spPr>
          <a:xfrm>
            <a:off x="777240" y="3886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8504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USER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9" name="Text 20"/>
          <p:cNvSpPr/>
          <p:nvPr/>
        </p:nvSpPr>
        <p:spPr>
          <a:xfrm>
            <a:off x="777240" y="41148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6D2E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본식 날짜 입력 1회 + 13개 카테고리 ON/OFF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0" name="Shape 21"/>
          <p:cNvSpPr/>
          <p:nvPr/>
        </p:nvSpPr>
        <p:spPr>
          <a:xfrm>
            <a:off x="4754880" y="3749040"/>
            <a:ext cx="3840480" cy="1051560"/>
          </a:xfrm>
          <a:prstGeom prst="rect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1" name="Text 22"/>
          <p:cNvSpPr/>
          <p:nvPr/>
        </p:nvSpPr>
        <p:spPr>
          <a:xfrm>
            <a:off x="4937760" y="3886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97B8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SYSTEM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2" name="Text 23"/>
          <p:cNvSpPr/>
          <p:nvPr/>
        </p:nvSpPr>
        <p:spPr>
          <a:xfrm>
            <a:off x="4937760" y="411480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템플릿 펼치기 · 자동 배치 · 알림 예약 · 진행률 계산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그림 33">
            <a:extLst>
              <a:ext uri="{FF2B5EF4-FFF2-40B4-BE49-F238E27FC236}">
                <a16:creationId xmlns:a16="http://schemas.microsoft.com/office/drawing/2014/main" id="{1782A00C-0FC2-63D6-8748-51B1D1B6F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44" y="1143847"/>
            <a:ext cx="5631690" cy="3672841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8CE635D5-6685-8793-4EDE-4E906AB02F43}"/>
              </a:ext>
            </a:extLst>
          </p:cNvPr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97B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r>
              <a:rPr lang="en-US" sz="1200" b="1" kern="0" spc="400" dirty="0">
                <a:solidFill>
                  <a:srgbClr val="8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CONCEPT · 한 장으로 보는 흐름</a:t>
            </a:r>
            <a:endParaRPr lang="en-US" sz="1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784ADE7-77DF-A5C9-7301-EB45D407E477}"/>
              </a:ext>
            </a:extLst>
          </p:cNvPr>
          <p:cNvSpPr/>
          <p:nvPr/>
        </p:nvSpPr>
        <p:spPr>
          <a:xfrm>
            <a:off x="417406" y="778087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1A2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Task - Json</a:t>
            </a:r>
            <a:endParaRPr lang="en-US" sz="2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56537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97B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r>
              <a:rPr lang="en-US" sz="1200" b="1" kern="0" spc="400" dirty="0">
                <a:solidFill>
                  <a:srgbClr val="8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DEMO · 실제 화면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D2E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앱은 이렇게 동작합니다</a:t>
            </a:r>
            <a:endParaRPr lang="en-US" sz="2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977640" cy="1600200"/>
          </a:xfrm>
          <a:prstGeom prst="rect">
            <a:avLst/>
          </a:prstGeom>
          <a:solidFill>
            <a:srgbClr val="F5EDE4"/>
          </a:solidFill>
          <a:ln/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77240" y="1645920"/>
            <a:ext cx="868680" cy="1143000"/>
          </a:xfrm>
          <a:prstGeom prst="rect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74420" y="1691640"/>
            <a:ext cx="274320" cy="54864"/>
          </a:xfrm>
          <a:prstGeom prst="rect">
            <a:avLst/>
          </a:prstGeom>
          <a:solidFill>
            <a:srgbClr val="C97B84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64692" y="1924812"/>
            <a:ext cx="493776" cy="493776"/>
          </a:xfrm>
          <a:prstGeom prst="ellipse">
            <a:avLst/>
          </a:prstGeom>
          <a:solidFill>
            <a:srgbClr val="F5EDE4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" y="2007108"/>
            <a:ext cx="329184" cy="32918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046988" y="2670048"/>
            <a:ext cx="329184" cy="36576"/>
          </a:xfrm>
          <a:prstGeom prst="rect">
            <a:avLst/>
          </a:prstGeom>
          <a:solidFill>
            <a:srgbClr val="C97B84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828800" y="16459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8504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①</a:t>
            </a:r>
            <a:endParaRPr lang="en-US" sz="2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Text 8"/>
          <p:cNvSpPr/>
          <p:nvPr/>
        </p:nvSpPr>
        <p:spPr>
          <a:xfrm>
            <a:off x="2240280" y="16916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D2E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본식 날짜 입력</a:t>
            </a:r>
            <a:endParaRPr lang="en-US" sz="17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986281" y="2050627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1A2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최초 1회 · 알림 권한 요청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709160" y="1417320"/>
            <a:ext cx="3977640" cy="1600200"/>
          </a:xfrm>
          <a:prstGeom prst="rect">
            <a:avLst/>
          </a:prstGeom>
          <a:solidFill>
            <a:srgbClr val="F5EDE4"/>
          </a:solidFill>
          <a:ln/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937760" y="1645920"/>
            <a:ext cx="868680" cy="1143000"/>
          </a:xfrm>
          <a:prstGeom prst="rect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5234940" y="1691640"/>
            <a:ext cx="274320" cy="54864"/>
          </a:xfrm>
          <a:prstGeom prst="rect">
            <a:avLst/>
          </a:prstGeom>
          <a:solidFill>
            <a:srgbClr val="C97B84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5125212" y="1924812"/>
            <a:ext cx="493776" cy="493776"/>
          </a:xfrm>
          <a:prstGeom prst="ellipse">
            <a:avLst/>
          </a:prstGeom>
          <a:solidFill>
            <a:srgbClr val="F5EDE4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7508" y="2007108"/>
            <a:ext cx="329184" cy="32918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207508" y="2670048"/>
            <a:ext cx="329184" cy="36576"/>
          </a:xfrm>
          <a:prstGeom prst="rect">
            <a:avLst/>
          </a:prstGeom>
          <a:solidFill>
            <a:srgbClr val="C97B84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5989320" y="16459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8504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②</a:t>
            </a:r>
            <a:endParaRPr lang="en-US" sz="2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6400800" y="16916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D2E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카테고리 선택 ON/OFF</a:t>
            </a:r>
            <a:endParaRPr lang="en-US" sz="17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6146801" y="2050627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1A2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13개 그룹 중 필요한 것만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548640" y="3200400"/>
            <a:ext cx="3977640" cy="1600200"/>
          </a:xfrm>
          <a:prstGeom prst="rect">
            <a:avLst/>
          </a:prstGeom>
          <a:solidFill>
            <a:srgbClr val="F5EDE4"/>
          </a:solidFill>
          <a:ln/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3" name="Shape 19"/>
          <p:cNvSpPr/>
          <p:nvPr/>
        </p:nvSpPr>
        <p:spPr>
          <a:xfrm>
            <a:off x="777240" y="3429000"/>
            <a:ext cx="868680" cy="1143000"/>
          </a:xfrm>
          <a:prstGeom prst="rect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4" name="Shape 20"/>
          <p:cNvSpPr/>
          <p:nvPr/>
        </p:nvSpPr>
        <p:spPr>
          <a:xfrm>
            <a:off x="1074420" y="3474720"/>
            <a:ext cx="274320" cy="54864"/>
          </a:xfrm>
          <a:prstGeom prst="rect">
            <a:avLst/>
          </a:prstGeom>
          <a:solidFill>
            <a:srgbClr val="C97B84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5" name="Shape 21"/>
          <p:cNvSpPr/>
          <p:nvPr/>
        </p:nvSpPr>
        <p:spPr>
          <a:xfrm>
            <a:off x="964692" y="3707892"/>
            <a:ext cx="493776" cy="493776"/>
          </a:xfrm>
          <a:prstGeom prst="ellipse">
            <a:avLst/>
          </a:prstGeom>
          <a:solidFill>
            <a:srgbClr val="F5EDE4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988" y="3790188"/>
            <a:ext cx="329184" cy="329184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1046988" y="4453128"/>
            <a:ext cx="329184" cy="36576"/>
          </a:xfrm>
          <a:prstGeom prst="rect">
            <a:avLst/>
          </a:prstGeom>
          <a:solidFill>
            <a:srgbClr val="C97B84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8" name="Text 23"/>
          <p:cNvSpPr/>
          <p:nvPr/>
        </p:nvSpPr>
        <p:spPr>
          <a:xfrm>
            <a:off x="1828800" y="34290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8504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③</a:t>
            </a:r>
            <a:endParaRPr lang="en-US" sz="2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9" name="Text 24"/>
          <p:cNvSpPr/>
          <p:nvPr/>
        </p:nvSpPr>
        <p:spPr>
          <a:xfrm>
            <a:off x="2240280" y="34747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D2E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메인 캘린더 + 진행률</a:t>
            </a:r>
            <a:endParaRPr lang="en-US" sz="17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0" name="Text 25"/>
          <p:cNvSpPr/>
          <p:nvPr/>
        </p:nvSpPr>
        <p:spPr>
          <a:xfrm>
            <a:off x="1986281" y="3833707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1A2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월간 뷰 + 오늘 할 일 + 대시보드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1" name="Shape 26"/>
          <p:cNvSpPr/>
          <p:nvPr/>
        </p:nvSpPr>
        <p:spPr>
          <a:xfrm>
            <a:off x="4709160" y="3200400"/>
            <a:ext cx="3977640" cy="1600200"/>
          </a:xfrm>
          <a:prstGeom prst="rect">
            <a:avLst/>
          </a:prstGeom>
          <a:solidFill>
            <a:srgbClr val="F5EDE4"/>
          </a:solidFill>
          <a:ln/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2" name="Shape 27"/>
          <p:cNvSpPr/>
          <p:nvPr/>
        </p:nvSpPr>
        <p:spPr>
          <a:xfrm>
            <a:off x="4937760" y="3429000"/>
            <a:ext cx="868680" cy="1143000"/>
          </a:xfrm>
          <a:prstGeom prst="rect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3" name="Shape 28"/>
          <p:cNvSpPr/>
          <p:nvPr/>
        </p:nvSpPr>
        <p:spPr>
          <a:xfrm>
            <a:off x="5234940" y="3474720"/>
            <a:ext cx="274320" cy="54864"/>
          </a:xfrm>
          <a:prstGeom prst="rect">
            <a:avLst/>
          </a:prstGeom>
          <a:solidFill>
            <a:srgbClr val="C97B84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" name="Shape 29"/>
          <p:cNvSpPr/>
          <p:nvPr/>
        </p:nvSpPr>
        <p:spPr>
          <a:xfrm>
            <a:off x="5125212" y="3707892"/>
            <a:ext cx="493776" cy="493776"/>
          </a:xfrm>
          <a:prstGeom prst="ellipse">
            <a:avLst/>
          </a:prstGeom>
          <a:solidFill>
            <a:srgbClr val="F5EDE4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7508" y="3790188"/>
            <a:ext cx="329184" cy="329184"/>
          </a:xfrm>
          <a:prstGeom prst="rect">
            <a:avLst/>
          </a:prstGeom>
        </p:spPr>
      </p:pic>
      <p:sp>
        <p:nvSpPr>
          <p:cNvPr id="36" name="Shape 30"/>
          <p:cNvSpPr/>
          <p:nvPr/>
        </p:nvSpPr>
        <p:spPr>
          <a:xfrm>
            <a:off x="5207508" y="4453128"/>
            <a:ext cx="329184" cy="36576"/>
          </a:xfrm>
          <a:prstGeom prst="rect">
            <a:avLst/>
          </a:prstGeom>
          <a:solidFill>
            <a:srgbClr val="C97B84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7" name="Text 31"/>
          <p:cNvSpPr/>
          <p:nvPr/>
        </p:nvSpPr>
        <p:spPr>
          <a:xfrm>
            <a:off x="5989320" y="34290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8504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④</a:t>
            </a:r>
            <a:endParaRPr lang="en-US" sz="2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8" name="Text 32"/>
          <p:cNvSpPr/>
          <p:nvPr/>
        </p:nvSpPr>
        <p:spPr>
          <a:xfrm>
            <a:off x="6400800" y="34747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D2E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일정 상세 + 알림 설정</a:t>
            </a:r>
            <a:endParaRPr lang="en-US" sz="17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" name="Text 33"/>
          <p:cNvSpPr/>
          <p:nvPr/>
        </p:nvSpPr>
        <p:spPr>
          <a:xfrm>
            <a:off x="6146801" y="3833707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1A2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메모 작성 · 알림 시간 조정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" name="Text 34"/>
          <p:cNvSpPr/>
          <p:nvPr/>
        </p:nvSpPr>
        <p:spPr>
          <a:xfrm>
            <a:off x="540174" y="47726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C7A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앱을 안 켜도 시스템 알림이 옵니다 · 캘린더 + 대시보드 + 상세까지 한 화면 흐름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97B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r>
              <a:rPr lang="en-US" sz="1200" b="1" kern="0" spc="400" dirty="0">
                <a:solidFill>
                  <a:srgbClr val="8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BUILD · 어떻게 만들었나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D2E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기술 스택과 현재 완성도</a:t>
            </a:r>
            <a:endParaRPr lang="en-US" sz="2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023360" cy="3108960"/>
          </a:xfrm>
          <a:prstGeom prst="rect">
            <a:avLst/>
          </a:prstGeom>
          <a:solidFill>
            <a:srgbClr val="F5EDE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73152" cy="3108960"/>
          </a:xfrm>
          <a:prstGeom prst="rect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916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7099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2194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3.41.8</a:t>
            </a:r>
            <a:r>
              <a:rPr lang="en-US" sz="1300" dirty="0">
                <a:solidFill>
                  <a:srgbClr val="8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Dart 3.11.5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8504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iOS · Android · Web · Windows  →  단일 코드베이스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22960" y="3017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7A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상태관리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965960" y="3017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1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22960" y="33101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7A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로컬 저장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965960" y="33101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1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shared_preferences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36027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7A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캘린더 UI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965960" y="36027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1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table_calendar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22960" y="389534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7A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알림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965960" y="38953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1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flutter_local_notifications + timezone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754880" y="1508760"/>
            <a:ext cx="3840480" cy="3547872"/>
          </a:xfrm>
          <a:prstGeom prst="rect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5029200" y="1618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C9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548640" y="4736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메인 흐름은 전부 동작 · 깔자마자 일정이 채워진 캘린더가 보임</a:t>
            </a:r>
            <a:endParaRPr lang="en-US" sz="1100" dirty="0"/>
          </a:p>
        </p:txBody>
      </p:sp>
      <p:sp>
        <p:nvSpPr>
          <p:cNvPr id="33" name="Text 25">
            <a:extLst>
              <a:ext uri="{FF2B5EF4-FFF2-40B4-BE49-F238E27FC236}">
                <a16:creationId xmlns:a16="http://schemas.microsoft.com/office/drawing/2014/main" id="{B3088241-CEA4-82D3-F1F3-CF8CBCAAF76D}"/>
              </a:ext>
            </a:extLst>
          </p:cNvPr>
          <p:cNvSpPr/>
          <p:nvPr/>
        </p:nvSpPr>
        <p:spPr>
          <a:xfrm>
            <a:off x="5029200" y="1901734"/>
            <a:ext cx="2923176" cy="2969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300" dirty="0"/>
              <a:t>✅ </a:t>
            </a:r>
            <a:r>
              <a:rPr lang="ko-KR" altLang="en-US" sz="13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프로토타입 생성</a:t>
            </a:r>
            <a:endParaRPr lang="en-US" altLang="ko-KR" sz="13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3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300" dirty="0"/>
              <a:t>✅ </a:t>
            </a:r>
            <a:r>
              <a:rPr lang="ko-KR" altLang="en-US" sz="13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세부기능 </a:t>
            </a:r>
            <a:r>
              <a:rPr lang="en-US" altLang="ko-KR" sz="13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– </a:t>
            </a:r>
            <a:r>
              <a:rPr lang="ko-KR" altLang="en-US" sz="13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알림</a:t>
            </a:r>
            <a:endParaRPr lang="en-US" altLang="ko-KR" sz="13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3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300" dirty="0"/>
              <a:t>✅ </a:t>
            </a:r>
            <a:r>
              <a:rPr lang="ko-KR" altLang="en-US" sz="13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세부기능 </a:t>
            </a:r>
            <a:r>
              <a:rPr lang="en-US" altLang="ko-KR" sz="13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– </a:t>
            </a:r>
            <a:r>
              <a:rPr lang="ko-KR" altLang="en-US" sz="13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진행률 대시보드</a:t>
            </a:r>
            <a:endParaRPr lang="en-US" altLang="ko-KR" sz="13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3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300" dirty="0"/>
              <a:t>🟩 </a:t>
            </a:r>
            <a:r>
              <a:rPr lang="ko-KR" altLang="en-US" sz="13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세부기능 </a:t>
            </a:r>
            <a:r>
              <a:rPr lang="en-US" altLang="ko-KR" sz="13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– </a:t>
            </a:r>
            <a:r>
              <a:rPr lang="ko-KR" altLang="en-US" sz="13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빠진 항목 추가</a:t>
            </a:r>
            <a:endParaRPr lang="en-US" altLang="ko-KR" sz="13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3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300" dirty="0"/>
              <a:t>🟩 </a:t>
            </a:r>
            <a:r>
              <a:rPr lang="ko-KR" altLang="en-US" sz="13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세부기능 </a:t>
            </a:r>
            <a:r>
              <a:rPr lang="en-US" altLang="ko-KR" sz="13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– D-Day </a:t>
            </a:r>
            <a:r>
              <a:rPr lang="ko-KR" altLang="en-US" sz="13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현실성 검토</a:t>
            </a:r>
            <a:endParaRPr lang="en-US" altLang="ko-KR" sz="13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3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300" dirty="0"/>
              <a:t>🟩 </a:t>
            </a:r>
            <a:r>
              <a:rPr lang="ko-KR" altLang="en-US" sz="13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세부기능 </a:t>
            </a:r>
            <a:r>
              <a:rPr lang="en-US" altLang="ko-KR" sz="13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– </a:t>
            </a:r>
            <a:r>
              <a:rPr lang="ko-KR" altLang="en-US" sz="13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항목별 설명</a:t>
            </a:r>
            <a:r>
              <a:rPr lang="en-US" altLang="ko-KR" sz="13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3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팁 추가</a:t>
            </a:r>
            <a:endParaRPr lang="en-US" altLang="ko-KR" sz="13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z="1300" dirty="0"/>
              <a:t>🟩 </a:t>
            </a:r>
            <a:r>
              <a:rPr lang="ko-KR" altLang="en-US" sz="13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세부기능 </a:t>
            </a:r>
            <a:r>
              <a:rPr lang="en-US" altLang="ko-KR" sz="13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– </a:t>
            </a:r>
            <a:r>
              <a:rPr lang="ko-KR" altLang="en-US" sz="13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항목 직접 추가</a:t>
            </a:r>
            <a:r>
              <a:rPr lang="en-US" altLang="ko-KR" sz="13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3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수정</a:t>
            </a:r>
            <a:r>
              <a:rPr lang="en-US" altLang="ko-KR" sz="13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3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삭제</a:t>
            </a:r>
            <a:endParaRPr lang="en-US" altLang="ko-KR" sz="13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z="1300" dirty="0"/>
              <a:t>🟩 </a:t>
            </a:r>
            <a:r>
              <a:rPr lang="ko-KR" altLang="en-US" sz="1300" b="1" dirty="0" err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버그픽스</a:t>
            </a:r>
            <a:r>
              <a:rPr lang="ko-KR" altLang="en-US" sz="13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3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+ UX </a:t>
            </a:r>
            <a:r>
              <a:rPr lang="ko-KR" altLang="en-US" sz="13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다듬기</a:t>
            </a:r>
            <a:endParaRPr lang="en-US" altLang="ko-KR" sz="13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z="1300" dirty="0"/>
              <a:t>🟩 </a:t>
            </a:r>
            <a:r>
              <a:rPr lang="ko-KR" altLang="en-US" sz="1300" b="1" dirty="0" err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앱아이덴티티</a:t>
            </a:r>
            <a:r>
              <a:rPr lang="ko-KR" altLang="en-US" sz="1300" b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확정</a:t>
            </a:r>
            <a:endParaRPr lang="en-US" altLang="ko-KR" sz="13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z="1300" dirty="0"/>
              <a:t>🟩 </a:t>
            </a:r>
            <a:r>
              <a:rPr lang="ko-KR" altLang="en-US" sz="1300" b="1" dirty="0" err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온보딩</a:t>
            </a:r>
            <a:r>
              <a:rPr lang="ko-KR" altLang="en-US" sz="13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3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3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처음 켰을 때 화면</a:t>
            </a:r>
            <a:r>
              <a:rPr lang="en-US" altLang="ko-KR" sz="13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</a:p>
          <a:p>
            <a:pPr>
              <a:lnSpc>
                <a:spcPct val="130000"/>
              </a:lnSpc>
            </a:pPr>
            <a:r>
              <a:rPr lang="ko-KR" altLang="en-US" sz="1300" dirty="0"/>
              <a:t>🟩 </a:t>
            </a:r>
            <a:r>
              <a:rPr lang="ko-KR" altLang="en-US" sz="13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출시</a:t>
            </a:r>
            <a:endParaRPr lang="en-US" altLang="ko-KR" sz="13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97B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r>
              <a:rPr lang="en-US" sz="1200" b="1" kern="0" spc="400" dirty="0">
                <a:solidFill>
                  <a:srgbClr val="8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NEXT · 한계와 다음 단계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D2E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솔직한 한계, 그리고 다음 마일스톤</a:t>
            </a:r>
            <a:endParaRPr lang="en-US" sz="2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023360" cy="3246120"/>
          </a:xfrm>
          <a:prstGeom prst="rect">
            <a:avLst/>
          </a:prstGeom>
          <a:solidFill>
            <a:srgbClr val="F5EDE4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73152" cy="324612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830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783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B8504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현재 한계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Shape 5"/>
          <p:cNvSpPr/>
          <p:nvPr/>
        </p:nvSpPr>
        <p:spPr>
          <a:xfrm>
            <a:off x="841248" y="2487168"/>
            <a:ext cx="109728" cy="10972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51560" y="23774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E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일정 간 의존 관계 미구현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051560" y="2566331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C7A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예: "네일은 웨딩촬영 2일 전"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C7A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현재는 모두 본식 날짜 1개 기준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841248" y="3147568"/>
            <a:ext cx="109728" cy="10972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051560" y="30378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E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소요 기간 / 예약 마감일 로직 없음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051560" y="3182451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C7A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단일 D-day로만 표현됨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841248" y="3698240"/>
            <a:ext cx="109728" cy="10972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051560" y="358851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6D2E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사용자가 </a:t>
            </a:r>
            <a:r>
              <a:rPr lang="en-US" sz="1300" b="1" dirty="0" err="1">
                <a:solidFill>
                  <a:srgbClr val="6D2E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일정</a:t>
            </a:r>
            <a:r>
              <a:rPr lang="en-US" sz="1300" b="1" dirty="0">
                <a:solidFill>
                  <a:srgbClr val="6D2E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300" b="1" dirty="0">
                <a:solidFill>
                  <a:srgbClr val="6D2E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수정을 할 수 없음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051560" y="3714835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C7A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코드의 JSON만 수정 가능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754880" y="1508760"/>
            <a:ext cx="3840480" cy="3246120"/>
          </a:xfrm>
          <a:prstGeom prst="rect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783080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486400" y="1783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C97B8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다음 단계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5029200" y="2423160"/>
            <a:ext cx="411480" cy="41148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5029200" y="2423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5532120" y="23774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DAG 의존성 그래프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5532120" y="267004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97B8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위상정렬 기반 자동 배치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4" name="Shape 20"/>
          <p:cNvSpPr/>
          <p:nvPr/>
        </p:nvSpPr>
        <p:spPr>
          <a:xfrm>
            <a:off x="5029200" y="3200400"/>
            <a:ext cx="411480" cy="41148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502920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5532120" y="31546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예약 마감일 분리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5532120" y="344728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97B8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bookByOffsetDays 알림 분리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8" name="Shape 24"/>
          <p:cNvSpPr/>
          <p:nvPr/>
        </p:nvSpPr>
        <p:spPr>
          <a:xfrm>
            <a:off x="5029200" y="3977640"/>
            <a:ext cx="411480" cy="41148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9" name="Text 25"/>
          <p:cNvSpPr/>
          <p:nvPr/>
        </p:nvSpPr>
        <p:spPr>
          <a:xfrm>
            <a:off x="502920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0" name="Text 26"/>
          <p:cNvSpPr/>
          <p:nvPr/>
        </p:nvSpPr>
        <p:spPr>
          <a:xfrm>
            <a:off x="5532120" y="39319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iOS App Store 출시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1" name="Text 27"/>
          <p:cNvSpPr/>
          <p:nvPr/>
        </p:nvSpPr>
        <p:spPr>
          <a:xfrm>
            <a:off x="5532120" y="422452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97B8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Apple Developer Program $99/년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5" name="Shape 11">
            <a:extLst>
              <a:ext uri="{FF2B5EF4-FFF2-40B4-BE49-F238E27FC236}">
                <a16:creationId xmlns:a16="http://schemas.microsoft.com/office/drawing/2014/main" id="{58D43FDA-23FD-921C-F107-9193EF1FB0D8}"/>
              </a:ext>
            </a:extLst>
          </p:cNvPr>
          <p:cNvSpPr/>
          <p:nvPr/>
        </p:nvSpPr>
        <p:spPr>
          <a:xfrm>
            <a:off x="841248" y="4252299"/>
            <a:ext cx="109728" cy="10972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DC5E02D0-28D4-1554-1DD3-DA048C8CFF09}"/>
              </a:ext>
            </a:extLst>
          </p:cNvPr>
          <p:cNvSpPr/>
          <p:nvPr/>
        </p:nvSpPr>
        <p:spPr>
          <a:xfrm>
            <a:off x="1051560" y="4142571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6D2E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모든 태스크의 일정 자료조사 아직 안 했음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C5152C37-86B8-6998-FEB7-D74AB73E1C59}"/>
              </a:ext>
            </a:extLst>
          </p:cNvPr>
          <p:cNvSpPr/>
          <p:nvPr/>
        </p:nvSpPr>
        <p:spPr>
          <a:xfrm>
            <a:off x="1051560" y="426889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8" name="화살표: 오른쪽 37">
            <a:extLst>
              <a:ext uri="{FF2B5EF4-FFF2-40B4-BE49-F238E27FC236}">
                <a16:creationId xmlns:a16="http://schemas.microsoft.com/office/drawing/2014/main" id="{4E33A174-8692-AADC-95E0-81EF8EE9C4B9}"/>
              </a:ext>
            </a:extLst>
          </p:cNvPr>
          <p:cNvSpPr/>
          <p:nvPr/>
        </p:nvSpPr>
        <p:spPr>
          <a:xfrm>
            <a:off x="3721608" y="2507825"/>
            <a:ext cx="1280160" cy="2412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화살표: 오른쪽 38">
            <a:extLst>
              <a:ext uri="{FF2B5EF4-FFF2-40B4-BE49-F238E27FC236}">
                <a16:creationId xmlns:a16="http://schemas.microsoft.com/office/drawing/2014/main" id="{BAC2A90D-DF59-8DF3-9CBE-2B52DFA8E2C6}"/>
              </a:ext>
            </a:extLst>
          </p:cNvPr>
          <p:cNvSpPr/>
          <p:nvPr/>
        </p:nvSpPr>
        <p:spPr>
          <a:xfrm rot="295200">
            <a:off x="3702679" y="3189918"/>
            <a:ext cx="1280160" cy="27364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D2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3108960"/>
            <a:ext cx="4114800" cy="4114800"/>
          </a:xfrm>
          <a:prstGeom prst="ellipse">
            <a:avLst/>
          </a:prstGeom>
          <a:solidFill>
            <a:srgbClr val="B85042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132320" y="-1371600"/>
            <a:ext cx="3291840" cy="3291840"/>
          </a:xfrm>
          <a:prstGeom prst="ellipse">
            <a:avLst/>
          </a:prstGeom>
          <a:solidFill>
            <a:srgbClr val="C97B84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914400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F5EDE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THE END · THANK YOU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날짜 하나로 시작하는
</a:t>
            </a:r>
            <a:r>
              <a:rPr lang="en-US" sz="5600" b="1" i="1" dirty="0">
                <a:solidFill>
                  <a:srgbClr val="C9A9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결혼 준비.</a:t>
            </a:r>
            <a:endParaRPr lang="en-US" sz="5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506" y="155448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760720" y="4617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97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TheDay · Flutter prototype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476</Words>
  <Application>Microsoft Office PowerPoint</Application>
  <PresentationFormat>화면 슬라이드 쇼(16:9)</PresentationFormat>
  <Paragraphs>108</Paragraphs>
  <Slides>8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Pretendard</vt:lpstr>
      <vt:lpstr>Arial</vt:lpstr>
      <vt:lpstr>Calibri</vt:lpstr>
      <vt:lpstr>Consolas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TheDay — 결혼 준비 일정 자동화 앱</dc:title>
  <dc:subject>PptxGenJS Presentation</dc:subject>
  <dc:creator>TheDay</dc:creator>
  <cp:lastModifiedBy>김수영</cp:lastModifiedBy>
  <cp:revision>6</cp:revision>
  <dcterms:created xsi:type="dcterms:W3CDTF">2026-05-05T14:54:55Z</dcterms:created>
  <dcterms:modified xsi:type="dcterms:W3CDTF">2026-05-05T15:14:20Z</dcterms:modified>
</cp:coreProperties>
</file>